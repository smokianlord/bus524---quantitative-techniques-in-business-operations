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y="6858000" cx="9144000"/>
  <p:notesSz cx="6858000" cy="9144000"/>
  <p:embeddedFontLst>
    <p:embeddedFont>
      <p:font typeface="Tahoma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403C26-746D-41D6-B616-D6AA0E8BBE14}">
  <a:tblStyle styleId="{A4403C26-746D-41D6-B616-D6AA0E8BBE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schemas.openxmlformats.org/officeDocument/2006/relationships/font" Target="fonts/Tahoma-regular.fntdata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Tahoma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2" type="body"/>
          </p:nvPr>
        </p:nvSpPr>
        <p:spPr>
          <a:xfrm>
            <a:off x="5145088" y="20177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3" type="body"/>
          </p:nvPr>
        </p:nvSpPr>
        <p:spPr>
          <a:xfrm>
            <a:off x="5145088" y="41513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" type="body"/>
          </p:nvPr>
        </p:nvSpPr>
        <p:spPr>
          <a:xfrm>
            <a:off x="1182688" y="2017713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2" type="body"/>
          </p:nvPr>
        </p:nvSpPr>
        <p:spPr>
          <a:xfrm>
            <a:off x="1182688" y="4151313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2" type="body"/>
          </p:nvPr>
        </p:nvSpPr>
        <p:spPr>
          <a:xfrm>
            <a:off x="5145088" y="20177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3" type="body"/>
          </p:nvPr>
        </p:nvSpPr>
        <p:spPr>
          <a:xfrm>
            <a:off x="5145088" y="41513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ontent" type="fourObj">
  <p:cSld name="FOUR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" type="body"/>
          </p:nvPr>
        </p:nvSpPr>
        <p:spPr>
          <a:xfrm>
            <a:off x="1182688" y="20177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2" type="body"/>
          </p:nvPr>
        </p:nvSpPr>
        <p:spPr>
          <a:xfrm>
            <a:off x="5145088" y="20177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3" type="body"/>
          </p:nvPr>
        </p:nvSpPr>
        <p:spPr>
          <a:xfrm>
            <a:off x="1182688" y="41513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4" type="body"/>
          </p:nvPr>
        </p:nvSpPr>
        <p:spPr>
          <a:xfrm>
            <a:off x="5145088" y="4151313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90" name="Google Shape;90;p10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91" name="Google Shape;91;p10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 rot="5400000">
            <a:off x="5020469" y="2197894"/>
            <a:ext cx="5918200" cy="1951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" type="body"/>
          </p:nvPr>
        </p:nvSpPr>
        <p:spPr>
          <a:xfrm rot="5400000">
            <a:off x="1042194" y="323057"/>
            <a:ext cx="5918200" cy="57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" type="body"/>
          </p:nvPr>
        </p:nvSpPr>
        <p:spPr>
          <a:xfrm rot="5400000">
            <a:off x="3011487" y="188912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17" name="Google Shape;117;p14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39" name="Google Shape;1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140" name="Google Shape;1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41" name="Google Shape;1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142" name="Google Shape;142;p18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148" name="Google Shape;148;p19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11" name="Google Shape;11;p1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Google Shape;12;p1"/>
              <p:cNvSpPr txBox="1"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" name="Google Shape;13;p1"/>
              <p:cNvSpPr txBox="1"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4" name="Google Shape;14;p1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5" name="Google Shape;15;p1"/>
              <p:cNvSpPr txBox="1"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" name="Google Shape;16;p1"/>
              <p:cNvSpPr txBox="1"/>
              <p:nvPr/>
            </p:nvSpPr>
            <p:spPr>
              <a:xfrm>
                <a:off x="1249" y="2640"/>
                <a:ext cx="335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" name="Google Shape;17;p1"/>
            <p:cNvSpPr txBox="1"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" name="Google Shape;18;p1"/>
            <p:cNvSpPr txBox="1"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0" name="Google Shape;20;p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156" name="Google Shape;156;p20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Independent Demand Inventory Management</a:t>
            </a:r>
            <a:endParaRPr/>
          </a:p>
        </p:txBody>
      </p:sp>
      <p:sp>
        <p:nvSpPr>
          <p:cNvPr id="157" name="Google Shape;15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Types of Inventory</a:t>
            </a:r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Inventory comes in many shapes and sizes such 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Raw materials – purchased items or extracted materials transformed into components or products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Components – parts or subassemblies used in final product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Work-in-process – items in process throughout the plant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Finished goods – products sold to customers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Distribution inventory – finished goods in the distribution system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170" name="Google Shape;170;p2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Types of Inventory</a:t>
            </a:r>
            <a:endParaRPr/>
          </a:p>
        </p:txBody>
      </p:sp>
      <p:pic>
        <p:nvPicPr>
          <p:cNvPr descr="w0082-n" id="171" name="Google Shape;171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33600"/>
            <a:ext cx="77724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177" name="Google Shape;177;p2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Uses of Inventory</a:t>
            </a:r>
            <a:endParaRPr/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533400" y="2017712"/>
            <a:ext cx="842168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Anticipation or seasonal inventory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Fluctuation Inventory or Safety stock: buffer demand fluctuations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Lot-size or cycle stock: take advantage of quantity discounts or purchasing efficiencies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Transportation or Pipeline inventory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Speculative or hedge inventory protects against some future event, e.g. labor strike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Maintenance, repair, and operating (MRO) inventories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184" name="Google Shape;184;p2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Objectives of Inventory Management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457200" y="2017712"/>
            <a:ext cx="8497887" cy="3925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Provide desired customer service level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service is the ability to satisfy customer requirements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Percentage of orders shipped on schedule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Percentage of line items shipped on schedule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Percentage of dollar volume shipped on schedule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Idle time due to material and component shortages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191" name="Google Shape;191;p2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Inventory Management Objectives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457200" y="2017712"/>
            <a:ext cx="8497887" cy="377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Provide for cost-efficient operations: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Buffer stock for smooth production flow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Maintain a level work force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Allowing longer production runs &amp; quantity discounts</a:t>
            </a:r>
            <a:endParaRPr/>
          </a:p>
          <a:p>
            <a:pPr indent="-20193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Minimum inventory investments: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Inventory turnover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Weeks, days, or hours of supply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198" name="Google Shape;198;p2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Customer Service Level Examples</a:t>
            </a:r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228600" y="2017712"/>
            <a:ext cx="8726487" cy="453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Percentage of Orders Shipped on Schedule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Good measure if orders have similar value. Does not capture value.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one company represents 50% of your business but only 5% of your orders, 95% on schedule could represent only 50% of value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Percentage of Line Items Shipped on Schedule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Recognizes that not all orders are equal, but does not capture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$ value of orders. More expensive to measure. Ok for finished goods.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90% service level might mean shipping 225 items out of the total 250 line items totaled from 20 orders scheduled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Percentage Of Dollar Volume Shipped on Schedule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Recognizes the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differences in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orders in terms of both line items and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$ value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05" name="Google Shape;205;p2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Inventory Investment Measures Example: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The Coach Motor Home Company has annual cost of goods sold of $10,000,000. The average inventory value at any point in time is $384,615. Calculate inventory turnover and weeks/days of supply.</a:t>
            </a:r>
            <a:endParaRPr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381000" y="2017712"/>
            <a:ext cx="8686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Inventory Turnover: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Weeks/Days of Supply: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7" name="Google Shape;20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19375"/>
            <a:ext cx="78486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233862"/>
            <a:ext cx="8305800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" y="5246687"/>
            <a:ext cx="5676900" cy="785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Relevant Inventory Costs</a:t>
            </a:r>
            <a:endParaRPr/>
          </a:p>
        </p:txBody>
      </p:sp>
      <p:graphicFrame>
        <p:nvGraphicFramePr>
          <p:cNvPr id="216" name="Google Shape;216;p28"/>
          <p:cNvGraphicFramePr/>
          <p:nvPr/>
        </p:nvGraphicFramePr>
        <p:xfrm>
          <a:off x="304800" y="2017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{A4403C26-746D-41D6-B616-D6AA0E8BBE14}</a:tableStyleId>
              </a:tblPr>
              <a:tblGrid>
                <a:gridCol w="2209800"/>
                <a:gridCol w="6440475"/>
              </a:tblGrid>
              <a:tr h="118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 Cost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Includes price paid for the item plus other direct costs associated with the purchase</a:t>
                      </a:r>
                      <a:endParaRPr/>
                    </a:p>
                  </a:txBody>
                  <a:tcPr marT="45700" marB="45700" marR="91450" marL="91450"/>
                </a:tc>
              </a:tr>
              <a:tr h="162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Holding Costs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Include the variable expenses incurred by the plant related to the volume of inventory held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e.g. 15-25%</a:t>
                      </a:r>
                      <a:endParaRPr/>
                    </a:p>
                  </a:txBody>
                  <a:tcPr marT="45700" marB="45700" marR="91450" marL="91450"/>
                </a:tc>
              </a:tr>
              <a:tr h="9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Capital Costs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The higher of the cost of capital or the opportunity cost for the company</a:t>
                      </a:r>
                      <a:endParaRPr/>
                    </a:p>
                  </a:txBody>
                  <a:tcPr marT="45700" marB="45700" marR="91450" marL="91450"/>
                </a:tc>
              </a:tr>
              <a:tr h="94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00" marB="45700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Relevant Inventory Costs</a:t>
            </a:r>
            <a:endParaRPr/>
          </a:p>
        </p:txBody>
      </p:sp>
      <p:graphicFrame>
        <p:nvGraphicFramePr>
          <p:cNvPr id="223" name="Google Shape;223;p29"/>
          <p:cNvGraphicFramePr/>
          <p:nvPr/>
        </p:nvGraphicFramePr>
        <p:xfrm>
          <a:off x="304800" y="2017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{A4403C26-746D-41D6-B616-D6AA0E8BBE14}</a:tableStyleId>
              </a:tblPr>
              <a:tblGrid>
                <a:gridCol w="2209800"/>
                <a:gridCol w="6440475"/>
              </a:tblGrid>
              <a:tr h="9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Ordering Cost</a:t>
                      </a:r>
                      <a:endParaRPr/>
                    </a:p>
                  </a:txBody>
                  <a:tcPr marT="45700" marB="45700" marR="91450" marL="91450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Fixed, constant dollar amount incurred for each order placed</a:t>
                      </a:r>
                      <a:endParaRPr/>
                    </a:p>
                  </a:txBody>
                  <a:tcPr marT="45700" marB="45700" marR="91450" marL="91450"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Shortage Costs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Loss of customer goodwill, back order handling, and lost sales</a:t>
                      </a:r>
                      <a:endParaRPr/>
                    </a:p>
                  </a:txBody>
                  <a:tcPr marT="45700" marB="45700" marR="91450" marL="91450"/>
                </a:tc>
              </a:tr>
              <a:tr h="9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Risk costs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Obsolescence, damage, deterioration, theft, insurance and taxes</a:t>
                      </a:r>
                      <a:endParaRPr/>
                    </a:p>
                  </a:txBody>
                  <a:tcPr marT="45700" marB="45700" marR="91450" marL="91450"/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Storage costs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Included the variable expenses for space, workers, and equipment related to the volume of inventory held</a:t>
                      </a:r>
                      <a:endParaRPr/>
                    </a:p>
                  </a:txBody>
                  <a:tcPr marT="45700" marB="45700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29" name="Google Shape;229;p3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Determining Order Quantities</a:t>
            </a:r>
            <a:endParaRPr/>
          </a:p>
        </p:txBody>
      </p:sp>
      <p:graphicFrame>
        <p:nvGraphicFramePr>
          <p:cNvPr id="230" name="Google Shape;230;p30"/>
          <p:cNvGraphicFramePr/>
          <p:nvPr/>
        </p:nvGraphicFramePr>
        <p:xfrm>
          <a:off x="3810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{A4403C26-746D-41D6-B616-D6AA0E8BBE14}</a:tableStyleId>
              </a:tblPr>
              <a:tblGrid>
                <a:gridCol w="2362200"/>
                <a:gridCol w="6211875"/>
              </a:tblGrid>
              <a:tr h="111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Lot-for-lot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Order exactly what is needed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Fixed-order quantity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Specifies the number of units to order whenever an order is placed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Min-max system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Places a replenishment order when the on-hand inventory falls below the predetermined minimum level.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800"/>
                        <a:buFont typeface="Tahoma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Order </a:t>
                      </a:r>
                      <a:r>
                        <a:rPr b="1" i="1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 periods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ahoma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Order quantity is determined by total demand for the item for the next </a:t>
                      </a:r>
                      <a:r>
                        <a:rPr b="1" i="1" lang="en-US" sz="2800" u="non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periods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36" name="Google Shape;236;p3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Three Mathematical Models for Determining Order Quantity</a:t>
            </a:r>
            <a:endParaRPr/>
          </a:p>
        </p:txBody>
      </p:sp>
      <p:sp>
        <p:nvSpPr>
          <p:cNvPr id="237" name="Google Shape;237;p31"/>
          <p:cNvSpPr txBox="1"/>
          <p:nvPr>
            <p:ph idx="1" type="body"/>
          </p:nvPr>
        </p:nvSpPr>
        <p:spPr>
          <a:xfrm>
            <a:off x="457200" y="2017712"/>
            <a:ext cx="8497887" cy="445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Economic Order Quantity (EOQ or Q System)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optimizing method used for determining order quantity and reorder points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Part of </a:t>
            </a: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continuous review system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which tracks on-hand inventory each time a withdrawal is made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Economic Production Quantity (EPQ)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model that allows for incremental product delivery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Quantity Discount Model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Modifies the EOQ process to consider cases where quantity discounts are available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Economic Order Quantity</a:t>
            </a:r>
            <a:endParaRPr/>
          </a:p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81000" y="2017712"/>
            <a:ext cx="441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EOQ Assumptions: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Demand is known &amp; constant - no safety stock is required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Lead time is known &amp; constant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quantity discounts are available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Ordering (or setup) costs are constant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demand is satisfied (no shortages)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order quantity arrives in a single shipment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5" name="Google Shape;245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4191000"/>
            <a:ext cx="3392487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2057400"/>
            <a:ext cx="32766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Total Annual Inventory Cost with EOQ Model</a:t>
            </a:r>
            <a:endParaRPr/>
          </a:p>
        </p:txBody>
      </p:sp>
      <p:sp>
        <p:nvSpPr>
          <p:cNvPr id="253" name="Google Shape;253;p33"/>
          <p:cNvSpPr txBox="1"/>
          <p:nvPr>
            <p:ph idx="1" type="body"/>
          </p:nvPr>
        </p:nvSpPr>
        <p:spPr>
          <a:xfrm>
            <a:off x="0" y="2017712"/>
            <a:ext cx="9144000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Total annual cost= annual ordering cost + annual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                 holding  costs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4" name="Google Shape;254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819400"/>
            <a:ext cx="5181600" cy="1020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0084-n" id="255" name="Google Shape;255;p33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4038600"/>
            <a:ext cx="72390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61" name="Google Shape;261;p3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Continuous (Q) Review System Example: A computer company has annual demand of 10,000. They want to determine EOQ for circuit boards which have an annual holding cost (H) of $6 per unit, and an ordering cost (S) of $75. They want to calculate TC and the reorder point (R) if the purchasing lead time is 5 days.</a:t>
            </a:r>
            <a:endParaRPr/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762000" y="2017712"/>
            <a:ext cx="8382000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EOQ (Q)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Reorder Point (R)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Total Inventory Cost (TC)</a:t>
            </a:r>
            <a:endParaRPr/>
          </a:p>
        </p:txBody>
      </p:sp>
      <p:pic>
        <p:nvPicPr>
          <p:cNvPr id="263" name="Google Shape;263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593975"/>
            <a:ext cx="5441950" cy="90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4297362"/>
            <a:ext cx="6858000" cy="700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8887" y="5638800"/>
            <a:ext cx="6856412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71" name="Google Shape;271;p3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1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Economic Production Quantity (EPQ)</a:t>
            </a:r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304800" y="2017712"/>
            <a:ext cx="8650287" cy="8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Same assumptions as the EOQ except: inventory arrives in increments &amp; is drawn down as it arrives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w0085-n" id="273" name="Google Shape;273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743200"/>
            <a:ext cx="82296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79" name="Google Shape;279;p3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EPQ Equations</a:t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609600" y="2017712"/>
            <a:ext cx="8534400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Total cost: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Maximum inventory: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d=avg. daily demand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p=daily production rate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Calculating EPQ</a:t>
            </a:r>
            <a:endParaRPr/>
          </a:p>
        </p:txBody>
      </p:sp>
      <p:pic>
        <p:nvPicPr>
          <p:cNvPr id="281" name="Google Shape;281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2286000"/>
            <a:ext cx="3429000" cy="874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6050" y="3657600"/>
            <a:ext cx="2730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9525" y="5257800"/>
            <a:ext cx="307975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89" name="Google Shape;289;p3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EPQ Problem:</a:t>
            </a: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HP Ltd. Produces its premium plant food in 50# bags. Demand is 100,000 lbs. per week and they operate 50 wks. each year and HP can produce 250,000 lbs. per week. The setup cost is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$200</a:t>
            </a:r>
            <a:r>
              <a:rPr b="0" i="0" lang="en-US" sz="1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and the annual holding cost rate is $.55 per bag. Calculate the EPQ. Determine the maximum inventory level. Calculate the total cost of using the EPQ policy.</a:t>
            </a:r>
            <a:endParaRPr/>
          </a:p>
        </p:txBody>
      </p:sp>
      <p:pic>
        <p:nvPicPr>
          <p:cNvPr id="290" name="Google Shape;290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257800"/>
            <a:ext cx="32766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133600"/>
            <a:ext cx="2895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7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581400"/>
            <a:ext cx="25908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298" name="Google Shape;298;p3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EPQ Problem:</a:t>
            </a: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HP Ltd. Produces its premium plant food in 50# bags. Demand is 100,000 lbs. per week and they operate 50 wks. each year and HP can produce 250,000 lbs. per week. The setup cost is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$200</a:t>
            </a:r>
            <a:r>
              <a:rPr b="0" i="0" lang="en-US" sz="1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1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and the annual holding cost rate is $.55 per bag. Calculate the EPQ. Determine the maximum inventory level. Calculate the total cost of using the EPQ policy.</a:t>
            </a:r>
            <a:endParaRPr/>
          </a:p>
        </p:txBody>
      </p:sp>
      <p:pic>
        <p:nvPicPr>
          <p:cNvPr id="299" name="Google Shape;299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133600"/>
            <a:ext cx="3200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133600"/>
            <a:ext cx="39878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429000"/>
            <a:ext cx="29718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/>
          <p:cNvPicPr preferRelativeResize="0"/>
          <p:nvPr>
            <p:ph idx="4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724400"/>
            <a:ext cx="2895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7200" y="3276600"/>
            <a:ext cx="4572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8600" y="4648200"/>
            <a:ext cx="48006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10" name="Google Shape;310;p3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b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Quantity Discount Model</a:t>
            </a:r>
            <a:endParaRPr/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1182687" y="2017712"/>
            <a:ext cx="758031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Same as the EOQ model, except: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Unit price depends upon the quantity ordered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The total cost equation becomes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2" name="Google Shape;312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4343400"/>
            <a:ext cx="3048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9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9037" y="4419600"/>
            <a:ext cx="17367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19" name="Google Shape;319;p4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Quantity Discount Procedure</a:t>
            </a:r>
            <a:endParaRPr/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Calculate the EOQ at the lowest price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Determine whether the EOQ is feasible at that price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Will the vendor sell that quantity at that price?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yes, stop – if no, continue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the feasibility of EOQ at the next higher price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Continue to the next slide ...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QD Procedure </a:t>
            </a:r>
            <a:r>
              <a:rPr b="0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(continued)</a:t>
            </a:r>
            <a:endParaRPr/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Continue until you identify a feasible EOQ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Calculate the total costs (including total item cost) for the feasible EOQ model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Calculate the total costs of buying at the minimum quantity required for each of the cheaper unit prices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Compare the total cost of each option &amp; choose the lowest cost alternative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Any other issues to consider?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33" name="Google Shape;333;p4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Quantity Discount Example: Collin’s Sport store is considering going to a different hat supplier. The present supplier charges $10 each and requires minimum quantities of 490 hats. The annual demand is 12,000 hats, the ordering cost is $20, and the inventory carrying cost is 20% of the hat cost, a new supplier is offering hats at $9 in lots of 4000. Who should he buy from?</a:t>
            </a:r>
            <a:endParaRPr/>
          </a:p>
        </p:txBody>
      </p:sp>
      <p:sp>
        <p:nvSpPr>
          <p:cNvPr id="334" name="Google Shape;334;p42"/>
          <p:cNvSpPr txBox="1"/>
          <p:nvPr>
            <p:ph idx="1" type="body"/>
          </p:nvPr>
        </p:nvSpPr>
        <p:spPr>
          <a:xfrm>
            <a:off x="1182687" y="2017712"/>
            <a:ext cx="796131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EOQ at lowest price $9. Is it feasible?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i="0" sz="20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Since the EOQ of 516 is not feasible, calculate the total cost (C) for each price to make the decision</a:t>
            </a:r>
            <a:endParaRPr/>
          </a:p>
          <a:p>
            <a:pPr indent="-2667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4000 hats at $9 each saves </a:t>
            </a:r>
            <a:r>
              <a:rPr b="1" i="0" lang="en-US" sz="2000" u="sng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$19,320</a:t>
            </a: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annually. Space?</a:t>
            </a:r>
            <a:endParaRPr/>
          </a:p>
        </p:txBody>
      </p:sp>
      <p:pic>
        <p:nvPicPr>
          <p:cNvPr id="335" name="Google Shape;335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4775" y="2438400"/>
            <a:ext cx="3852862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3822700"/>
            <a:ext cx="6326187" cy="142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42" name="Google Shape;342;p4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1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Safety Stock and Service Levels</a:t>
            </a:r>
            <a:endParaRPr/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381000" y="2017712"/>
            <a:ext cx="4611687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demand or lead time is uncertain, safety stock can be added to improve order-cycle service levels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1" i="0" lang="en-US" sz="1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 = dL +SS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1" i="0" lang="en-US" sz="1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Where  SS =</a:t>
            </a: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zσ</a:t>
            </a:r>
            <a:r>
              <a:rPr b="1" i="0" lang="en-US" sz="1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dL,</a:t>
            </a:r>
            <a:r>
              <a:rPr b="1" i="0" lang="en-US" sz="1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and Z is the number of standard deviations and </a:t>
            </a: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σ</a:t>
            </a:r>
            <a:r>
              <a:rPr b="1" i="0" lang="en-US" sz="1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dL</a:t>
            </a:r>
            <a:r>
              <a:rPr b="1" i="0" lang="en-US" sz="1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is standard deviation of the demand during lead time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rgbClr val="00A87C"/>
                </a:solidFill>
                <a:latin typeface="Tahoma"/>
                <a:ea typeface="Tahoma"/>
                <a:cs typeface="Tahoma"/>
                <a:sym typeface="Tahoma"/>
              </a:rPr>
              <a:t>Order-cycle service level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probability that demand during lead time will not exceed on-hand inventory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95% service level (stockout risk of 5%) has a Z=1.645</a:t>
            </a:r>
            <a:endParaRPr/>
          </a:p>
          <a:p>
            <a:pPr indent="-243840" lvl="1" marL="74295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660"/>
              <a:buFont typeface="Noto Sans Symbols"/>
              <a:buNone/>
            </a:pPr>
            <a:r>
              <a:t/>
            </a:r>
            <a:endParaRPr b="1" i="0" sz="12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180" lvl="0" marL="342900" rtl="0" algn="l">
              <a:spcBef>
                <a:spcPts val="24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b="1" i="0" sz="12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w0089-n" id="344" name="Google Shape;34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209800"/>
            <a:ext cx="35814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50" name="Google Shape;350;p4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Periodic Review Systems</a:t>
            </a:r>
            <a:endParaRPr/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182687" y="2017712"/>
            <a:ext cx="7772400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Orders are placed at specified, fixed-time intervals (e.g. every Friday), for a order size </a:t>
            </a: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(Q)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bring on-hand inventory </a:t>
            </a: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(OH)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up to the target inventory </a:t>
            </a: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(TI),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similar to the min-max system.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Advantages are: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need for a system to continuously monitor item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Items ordered from the same supplier can be reviewed on the same day saving purchase order costs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Disadvantages: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Replenishment quantities (Q) vary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 quantities may not quality for quantity discounts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 the average, inventory levels will be higher than Q systems-more stockroom space needed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57" name="Google Shape;357;p4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Periodic Review Systems: Calculations for TI</a:t>
            </a:r>
            <a:endParaRPr/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Targeted Inventory level: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TI = d(RP + L) + 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d = average period demand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RP = review period (days, wks)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L = lead time (days, wks)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SS = zσ</a:t>
            </a: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RP+L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Replenishment Quantity (Q)=TI-OH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64" name="Google Shape;364;p4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 System: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an auto parts store calculated the EOQ for Drive Belts at 236 units and wants to compare the </a:t>
            </a:r>
            <a:r>
              <a:rPr b="1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Total Inventory Costs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for a </a:t>
            </a:r>
            <a:r>
              <a:rPr b="1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vs. a</a:t>
            </a:r>
            <a:r>
              <a:rPr b="1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Review System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  Annual demand (D) is 2704, avg. weekly demand is 52, weekly σ is 1.77 belts, and lead time is 3 weeks. The annual </a:t>
            </a:r>
            <a:r>
              <a:rPr b="1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TC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for the Q system is $229; H=$97, S=$10.</a:t>
            </a:r>
            <a:endParaRPr/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1182687" y="2017712"/>
            <a:ext cx="758031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Review Period</a:t>
            </a:r>
            <a:r>
              <a:rPr b="0" i="0" lang="en-US" sz="3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Target Inventory for 95% Service Level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Average On-Hand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OH</a:t>
            </a:r>
            <a:r>
              <a:rPr b="1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avg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TI-dL=424-(52belts)(3wks) = 268 belts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Annual Total Cost (P System)</a:t>
            </a:r>
            <a:endParaRPr/>
          </a:p>
        </p:txBody>
      </p:sp>
      <p:pic>
        <p:nvPicPr>
          <p:cNvPr id="366" name="Google Shape;366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4825" y="2051050"/>
            <a:ext cx="4143375" cy="62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712" y="3206750"/>
            <a:ext cx="7038975" cy="8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4850" y="3321050"/>
            <a:ext cx="1143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7175" y="5638800"/>
            <a:ext cx="7005637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75" name="Google Shape;375;p4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Single Period Inventory Model</a:t>
            </a:r>
            <a:endParaRPr/>
          </a:p>
        </p:txBody>
      </p:sp>
      <p:sp>
        <p:nvSpPr>
          <p:cNvPr id="376" name="Google Shape;376;p4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The SPI model is designed for products that share the following characteristics: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Sold at their regular price only during a single-time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Demand is highly variable but follows a known probability distribution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Salvage value is less than its original cost so money is lost when these products are sold for their salvage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Objective is to balance the gross profit of the sale of a unit with the cost incurred when a unit is sold after its primary selling period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82" name="Google Shape;382;p4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SPI Model Example</a:t>
            </a: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: Tee shirts are purchase in multiples of 10 for a charity event for $8 each. When sold during the event the selling price is $20. After the event their salvage value is just $2. From past events the organizers know the probability of selling different quantities of tee shirts within a range from 80 to 120</a:t>
            </a:r>
            <a:endParaRPr/>
          </a:p>
        </p:txBody>
      </p:sp>
      <p:sp>
        <p:nvSpPr>
          <p:cNvPr id="383" name="Google Shape;383;p48"/>
          <p:cNvSpPr txBox="1"/>
          <p:nvPr>
            <p:ph idx="1" type="body"/>
          </p:nvPr>
        </p:nvSpPr>
        <p:spPr>
          <a:xfrm>
            <a:off x="228600" y="2017712"/>
            <a:ext cx="8726487" cy="45354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             </a:t>
            </a:r>
            <a:r>
              <a:rPr b="1" i="0" lang="en-US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Payoff       Table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Prob. Of Occurrence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.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	.25	 .30	 .15	 .10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Customer Demand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80	 90	 100	 110	 120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# of Shirts Ordered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			</a:t>
            </a:r>
            <a:r>
              <a:rPr b="1" i="0" lang="en-US" sz="2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Profit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80		$960	 $960	 $960	 $960	 $960	 $960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90 		$900	$1080	$1080	$1080	$1080	$1040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i="0" lang="en-US" sz="20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Buy 100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	$840	$1020	$1200	$1200	$1200	</a:t>
            </a:r>
            <a:r>
              <a:rPr b="0" i="0" lang="en-US" sz="20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$1083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     110		$780	$ 960	</a:t>
            </a:r>
            <a:r>
              <a:rPr b="0" i="0" lang="en-US" sz="2000" u="sng">
                <a:solidFill>
                  <a:srgbClr val="00C08E"/>
                </a:solidFill>
                <a:latin typeface="Tahoma"/>
                <a:ea typeface="Tahoma"/>
                <a:cs typeface="Tahoma"/>
                <a:sym typeface="Tahoma"/>
              </a:rPr>
              <a:t>$1140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	$1320	$1320	$1068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     120		$720	$ 900	$1080 	$1260	$1440	$1026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Sample calculations: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rgbClr val="00C08E"/>
                </a:solidFill>
                <a:latin typeface="Tahoma"/>
                <a:ea typeface="Tahoma"/>
                <a:cs typeface="Tahoma"/>
                <a:sym typeface="Tahoma"/>
              </a:rPr>
              <a:t>Payoff (Buy 110)= sell 100($20-$8) –((110-100) x ($8-$2))= $1140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Expected Profit (Buy 100)= ($840 </a:t>
            </a:r>
            <a:r>
              <a:rPr b="1" i="0" lang="en-US" sz="1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1" i="0" lang="en-US" sz="1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.20)+($1020 x .25)+($1200 x .30) </a:t>
            </a:r>
            <a:r>
              <a:rPr b="0" i="0" lang="en-US" sz="1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1" i="0" lang="en-US" sz="1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                                                ($1200 x .15)+($1200 x .10) = $1083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89" name="Google Shape;389;p4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ABC Inventory Classification</a:t>
            </a:r>
            <a:endParaRPr/>
          </a:p>
        </p:txBody>
      </p:sp>
      <p:sp>
        <p:nvSpPr>
          <p:cNvPr id="390" name="Google Shape;390;p4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ABC classification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 method for determining level of control and frequency of review of inventory items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0" i="0" lang="en-US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Pareto analysis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can be done to segment items into value categories depending on annual dollar volume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 Items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typically 20% of the items accounting for 80% of the inventory value-use Q system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B Items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typically an additional 30% of the items accounting for 15% of the inventory value-use Q or 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C Items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Typically the remaining 50% of the items accounting for only 5% of the inventory value-use P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396" name="Google Shape;396;p5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The AAU Corp. is considering doing an ABC analysis on its entire inventory but has decided to test the technique on a small sample of 15 of its SKU’s. The annual usage and unit cost of each item is shown below</a:t>
            </a:r>
            <a:endParaRPr/>
          </a:p>
        </p:txBody>
      </p:sp>
      <p:pic>
        <p:nvPicPr>
          <p:cNvPr id="397" name="Google Shape;397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05000"/>
            <a:ext cx="87630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1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403" name="Google Shape;403;p5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(A) First calculate the annual dollar volume for each item</a:t>
            </a:r>
            <a:endParaRPr/>
          </a:p>
        </p:txBody>
      </p:sp>
      <p:pic>
        <p:nvPicPr>
          <p:cNvPr id="404" name="Google Shape;404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05000"/>
            <a:ext cx="89916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410" name="Google Shape;410;p5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b="0" i="0" lang="en-US" sz="2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B) List the items in descending order based on annual dollar volume. (C) Calculate the cumulative annual dollar volume as a percentage of total dollars. (D) Classify the items into groups</a:t>
            </a:r>
            <a:endParaRPr/>
          </a:p>
        </p:txBody>
      </p:sp>
      <p:pic>
        <p:nvPicPr>
          <p:cNvPr id="411" name="Google Shape;411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28800"/>
            <a:ext cx="87630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417" name="Google Shape;417;p5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Graphical solution For Example 12.15 showing the ABC classification of materials</a:t>
            </a:r>
            <a:endParaRPr/>
          </a:p>
        </p:txBody>
      </p:sp>
      <p:sp>
        <p:nvSpPr>
          <p:cNvPr id="418" name="Google Shape;418;p53"/>
          <p:cNvSpPr txBox="1"/>
          <p:nvPr>
            <p:ph idx="1" type="body"/>
          </p:nvPr>
        </p:nvSpPr>
        <p:spPr>
          <a:xfrm>
            <a:off x="381000" y="2017712"/>
            <a:ext cx="8574087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16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 items</a:t>
            </a: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(106 and 110) account for 60.5% of the value and 13.3% of the items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16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B items</a:t>
            </a: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(115,105,111,and 104) account for 25% of the value and 26.7% of the items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b="0" i="0" lang="en-US" sz="16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 items</a:t>
            </a: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make up the last 14.5% of the value and 60% of the items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0" i="0" lang="en-US" sz="1600" u="none">
                <a:solidFill>
                  <a:srgbClr val="00C08E"/>
                </a:solidFill>
                <a:latin typeface="Tahoma"/>
                <a:ea typeface="Tahoma"/>
                <a:cs typeface="Tahoma"/>
                <a:sym typeface="Tahoma"/>
              </a:rPr>
              <a:t>How might you control each item classification? Different ordering rules for each?</a:t>
            </a: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81940" lvl="0" marL="342900" rtl="0" algn="l"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19" name="Google Shape;419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505200"/>
            <a:ext cx="7239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425" name="Google Shape;425;p5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Justifying Smaller Order Quantities</a:t>
            </a:r>
            <a:endParaRPr/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1182687" y="2017712"/>
            <a:ext cx="796131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JIT or “Lean Systems” would recommend reducing order quantities to the lowest practical levels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Benefits from reducing </a:t>
            </a: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Q’s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Improved customer responsiveness (inventory = Lead time)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Reduced Cycle Inventory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Reduced raw materials and purchased components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Justifying smaller </a:t>
            </a: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EOQ’s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2667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Reduce </a:t>
            </a: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Q’s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by reducing </a:t>
            </a:r>
            <a:r>
              <a:rPr b="0" i="0" lang="en-US" sz="2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setup time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(S)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1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“Setup reduction” is a well documented, structured approach to reducing </a:t>
            </a:r>
            <a:r>
              <a:rPr b="1" i="0" lang="en-US" sz="2000" u="sng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endParaRPr/>
          </a:p>
        </p:txBody>
      </p:sp>
      <p:pic>
        <p:nvPicPr>
          <p:cNvPr id="427" name="Google Shape;427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975" y="4191000"/>
            <a:ext cx="1262062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5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433" name="Google Shape;433;p5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Inventory Record Accuracy</a:t>
            </a:r>
            <a:endParaRPr/>
          </a:p>
        </p:txBody>
      </p:sp>
      <p:sp>
        <p:nvSpPr>
          <p:cNvPr id="434" name="Google Shape;434;p55"/>
          <p:cNvSpPr txBox="1"/>
          <p:nvPr>
            <p:ph idx="1" type="body"/>
          </p:nvPr>
        </p:nvSpPr>
        <p:spPr>
          <a:xfrm>
            <a:off x="1182687" y="2017712"/>
            <a:ext cx="7772400" cy="453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Inaccurate inventory records can cause: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Lost sales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Disrupted operations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Poor customer service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Lower productivity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Planning errors and expediting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1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6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440" name="Google Shape;440;p5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Inventory Record Accuracy</a:t>
            </a:r>
            <a:endParaRPr/>
          </a:p>
        </p:txBody>
      </p:sp>
      <p:sp>
        <p:nvSpPr>
          <p:cNvPr id="441" name="Google Shape;441;p56"/>
          <p:cNvSpPr txBox="1"/>
          <p:nvPr>
            <p:ph idx="1" type="body"/>
          </p:nvPr>
        </p:nvSpPr>
        <p:spPr>
          <a:xfrm>
            <a:off x="1182687" y="2017712"/>
            <a:ext cx="7772400" cy="453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Two methods are available for checking record accuracy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Periodic counting - physical inventory is taken periodically, usually annually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Cycle counting-daily counting of prespecified items provides the following advantages: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Timely detection and correction of inaccurate records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Elimination of lost production time due to unexpected stock outs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Structured approach using employees trained in cycle counting</a:t>
            </a:r>
            <a:endParaRPr/>
          </a:p>
          <a:p>
            <a:pPr indent="-17145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/>
          <p:nvPr/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 Wiley 2007</a:t>
            </a:r>
            <a:endParaRPr/>
          </a:p>
        </p:txBody>
      </p:sp>
      <p:sp>
        <p:nvSpPr>
          <p:cNvPr id="447" name="Google Shape;447;p5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Inventory Management Across the Organization</a:t>
            </a:r>
            <a:endParaRPr/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Inventory management policies affect functional areas throughout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Accounting is concerned of the cost implications of inventory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Marketing is concerned as stocking decision affect the level of customer service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Information Systems is involved to tack and control inventory records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